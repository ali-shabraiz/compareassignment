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rimson Pro" panose="020B0604020202020204" charset="0"/>
      <p:regular r:id="rId14"/>
    </p:embeddedFont>
    <p:embeddedFont>
      <p:font typeface="Crimson Pro Bold" panose="020B0604020202020204" charset="0"/>
      <p:regular r:id="rId15"/>
    </p:embeddedFont>
    <p:embeddedFont>
      <p:font typeface="Crimson Pro SemiBold" panose="020B0604020202020204" charset="0"/>
      <p:regular r:id="rId16"/>
    </p:embeddedFont>
    <p:embeddedFont>
      <p:font typeface="Fjalla One" panose="02000506040000020004" pitchFamily="2" charset="0"/>
      <p:regular r:id="rId17"/>
    </p:embeddedFont>
    <p:embeddedFont>
      <p:font typeface="Holtwood One SC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49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class. Today we enter the Marvel Cinematic Universe to face Doctor Doom's deadliest threat: bad subject-verb agreement. Pay attention to how indefinite pronouns behave so we can defend the multiverse.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central rule before the examples: the subject and verb must agree. Point out that indefinite pronouns can refer to groups or sound plural, but they take singular verbs.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paradox: a hundred Spideys in a room feels like a crowd, but each one is an individual. That is exactly how words like 'Everyone' trick your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Thanos can summon an entire legion, but syntactically he is just one entity. When pronouns end in -one, -body, or -thing, treat them as a single commander.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your cheat code: singular verbs carry the letter 'S'. Is, was, has, smashes, saves. Lock this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Example 3 carefully: your ear wants to hear 'suits are', but 'Each' is the grammatical subject. Guard against that illusion.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Prepositional phrases like 'in the Avengers' or 'of the suits' act as smoke grenades. Shield them out and look straight at the pronoun.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these three questions with the class. Have them call out the subject first, shield the middle phrase, and confirm the singular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interactive test with the students. Let them vote in real time before triggering the answer reveal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three core rules on the cheat sheet and open the floor to questions from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89" y="254000"/>
            <a:ext cx="11277318" cy="6350000"/>
          </a:xfrm>
          <a:prstGeom prst="rect">
            <a:avLst/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84" y="889000"/>
            <a:ext cx="7302317" cy="5207000"/>
          </a:xfrm>
          <a:prstGeom prst="roundRect">
            <a:avLst>
              <a:gd name="adj" fmla="val 695"/>
            </a:avLst>
          </a:prstGeom>
          <a:solidFill>
            <a:srgbClr val="F4F8FF"/>
          </a:solidFill>
          <a:ln/>
        </p:spPr>
      </p:sp>
      <p:sp>
        <p:nvSpPr>
          <p:cNvPr id="3" name="Shape 1"/>
          <p:cNvSpPr/>
          <p:nvPr/>
        </p:nvSpPr>
        <p:spPr>
          <a:xfrm>
            <a:off x="835097" y="1016000"/>
            <a:ext cx="7111822" cy="4953000"/>
          </a:xfrm>
          <a:prstGeom prst="roundRect">
            <a:avLst>
              <a:gd name="adj" fmla="val 731"/>
            </a:avLst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168371" y="1270000"/>
            <a:ext cx="6553036" cy="738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2700" kern="0" spc="27" dirty="0">
                <a:solidFill>
                  <a:srgbClr val="000000"/>
                </a:solidFill>
                <a:latin typeface="Holtwood One SC" pitchFamily="34" charset="0"/>
                <a:ea typeface="Holtwood One SC" pitchFamily="34" charset="-122"/>
                <a:cs typeface="Holtwood One SC" pitchFamily="34" charset="-120"/>
              </a:rPr>
              <a:t>DOCTOR DOOM’S</a:t>
            </a:r>
            <a:endParaRPr lang="en-US" sz="2700" dirty="0"/>
          </a:p>
          <a:p>
            <a:pPr marL="0" indent="0" algn="ctr">
              <a:lnSpc>
                <a:spcPct val="87000"/>
              </a:lnSpc>
              <a:buNone/>
            </a:pPr>
            <a:r>
              <a:rPr lang="en-US" sz="2700" kern="0" spc="27" dirty="0">
                <a:solidFill>
                  <a:srgbClr val="000000"/>
                </a:solidFill>
                <a:latin typeface="Holtwood One SC" pitchFamily="34" charset="0"/>
                <a:ea typeface="Holtwood One SC" pitchFamily="34" charset="-122"/>
                <a:cs typeface="Holtwood One SC" pitchFamily="34" charset="-120"/>
              </a:rPr>
              <a:t>GRAMMAR DOOMSDAY </a:t>
            </a:r>
            <a:r>
              <a:rPr lang="en-US" sz="2700" kern="0" spc="27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3578" y="2247106"/>
            <a:ext cx="7162621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MCU: Multiverse of Common Mistakes</a:t>
            </a:r>
            <a:r>
              <a:rPr lang="en-US" sz="22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🦸‍♂️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68371" y="2907308"/>
            <a:ext cx="6553036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4406790" y="2884984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3213695"/>
            <a:ext cx="7162621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Subject–Verb Agreement: Indefinite Pronouns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68371" y="3815159"/>
            <a:ext cx="6553036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Doctor Doom is trying to destroy the universe using ONE major weapon: bad English grammar. Today, we defeat him.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3578" y="4697016"/>
            <a:ext cx="7162621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kern="0" spc="228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[Muhammad Ahsan Tanveer] | [01-134262-051]</a:t>
            </a:r>
            <a:endParaRPr lang="en-US" sz="1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741" y="889000"/>
            <a:ext cx="3604756" cy="5207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E66E226-2F13-4C86-1E14-39859CF89FA9}"/>
              </a:ext>
            </a:extLst>
          </p:cNvPr>
          <p:cNvSpPr/>
          <p:nvPr/>
        </p:nvSpPr>
        <p:spPr>
          <a:xfrm>
            <a:off x="1592887" y="5156994"/>
            <a:ext cx="3474720" cy="33297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[BSCS-1C]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457200"/>
            <a:ext cx="72134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104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THE GRAMMAR RULE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7987" y="753666"/>
            <a:ext cx="685782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SUBJECT + VERB MUST MATCH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7987" y="1436588"/>
            <a:ext cx="2263024" cy="50701"/>
          </a:xfrm>
          <a:prstGeom prst="roundRect">
            <a:avLst>
              <a:gd name="adj" fmla="val 49999"/>
            </a:avLst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1762026"/>
            <a:ext cx="6857828" cy="12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The subject tells us who or what. The verb must match it: singular with singular, plural with plural.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Some words sound like groups, but grammar treats them as </a:t>
            </a: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one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8" name="Shape 6"/>
          <p:cNvSpPr/>
          <p:nvPr/>
        </p:nvSpPr>
        <p:spPr>
          <a:xfrm>
            <a:off x="8076998" y="457200"/>
            <a:ext cx="3606710" cy="5943600"/>
          </a:xfrm>
          <a:prstGeom prst="rect">
            <a:avLst/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00840" y="2003227"/>
            <a:ext cx="32828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104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EXAMPLE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00840" y="2299692"/>
            <a:ext cx="29590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00" kern="0" spc="24" dirty="0">
                <a:solidFill>
                  <a:srgbClr val="000000"/>
                </a:solidFill>
                <a:latin typeface="Holtwood One SC" pitchFamily="34" charset="0"/>
                <a:ea typeface="Holtwood One SC" pitchFamily="34" charset="-122"/>
                <a:cs typeface="Holtwood One SC" pitchFamily="34" charset="-120"/>
              </a:rPr>
              <a:t>EVERYONE IS READY.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400840" y="3177778"/>
            <a:ext cx="2959026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“Everyone” may mean many people, but it takes the singular verb </a:t>
            </a: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is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00840" y="4392613"/>
            <a:ext cx="2959026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Also singular: somebody, nobody, everything, each, neither.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406400"/>
            <a:ext cx="6603835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THE SPIDER-MAN MULTIVERSE PARADOX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🕷️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030585"/>
            <a:ext cx="6603835" cy="5421015"/>
          </a:xfrm>
          <a:prstGeom prst="roundRect">
            <a:avLst>
              <a:gd name="adj" fmla="val 562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7229" y="1570038"/>
            <a:ext cx="380990" cy="3810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CC3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129" y="1652588"/>
            <a:ext cx="6867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90615" y="1582737"/>
            <a:ext cx="5371966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Problem: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Why our brain gets tricked into thinking general words are plural.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57229" y="2895898"/>
            <a:ext cx="380990" cy="3810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CC39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147" y="2978448"/>
            <a:ext cx="716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90615" y="2908598"/>
            <a:ext cx="5371966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Analogy: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In 'Spider-Man: Into the Spider-Verse', there are 100 Spider-People pointing at each other. They feel like a massive crowd, but each individual Spider-Man is still ONE person.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57229" y="4887714"/>
            <a:ext cx="380990" cy="3810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CC39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5734" y="4970264"/>
            <a:ext cx="7135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90615" y="4900414"/>
            <a:ext cx="5371966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Confusion: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Words like 'Everyone' or 'Everybody' sound like a whole multiverse, but in grammar rules, they count as just ONE singular hero.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518212" y="406400"/>
            <a:ext cx="4165496" cy="6045200"/>
          </a:xfrm>
          <a:custGeom>
            <a:avLst/>
            <a:gdLst/>
            <a:ahLst/>
            <a:cxnLst/>
            <a:rect l="l" t="t" r="r" b="b"/>
            <a:pathLst>
              <a:path w="4165496" h="6045200">
                <a:moveTo>
                  <a:pt x="2082748" y="0"/>
                </a:moveTo>
                <a:lnTo>
                  <a:pt x="2082748" y="0"/>
                </a:lnTo>
                <a:arcTo wR="2082748" hR="2082800" stAng="16200000" swAng="5400000"/>
                <a:lnTo>
                  <a:pt x="4165496" y="6045200"/>
                </a:lnTo>
                <a:lnTo>
                  <a:pt x="0" y="6045200"/>
                </a:lnTo>
                <a:lnTo>
                  <a:pt x="0" y="2082800"/>
                </a:lnTo>
                <a:arcTo wR="2082748" hR="2082800" stAng="10800000" swAng="5400000"/>
                <a:close/>
              </a:path>
            </a:pathLst>
          </a:custGeom>
          <a:noFill/>
          <a:ln w="38099">
            <a:solidFill>
              <a:srgbClr val="FFD166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04" y="380713"/>
            <a:ext cx="4165496" cy="6045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4A648E-5886-543D-9D98-464BAA99B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0" y="1756690"/>
            <a:ext cx="3922684" cy="431305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1B6EBD5-7DA7-49DD-86E5-C47705F71D90}"/>
              </a:ext>
            </a:extLst>
          </p:cNvPr>
          <p:cNvSpPr/>
          <p:nvPr/>
        </p:nvSpPr>
        <p:spPr>
          <a:xfrm>
            <a:off x="8417053" y="2454441"/>
            <a:ext cx="1183907" cy="173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Everyone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62C6DD-46F9-B7AE-D127-D12F9C8F15E9}"/>
              </a:ext>
            </a:extLst>
          </p:cNvPr>
          <p:cNvSpPr/>
          <p:nvPr/>
        </p:nvSpPr>
        <p:spPr>
          <a:xfrm>
            <a:off x="9476478" y="2917507"/>
            <a:ext cx="1183907" cy="173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Somebody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7DB976-C072-2281-30EF-1764983206B5}"/>
              </a:ext>
            </a:extLst>
          </p:cNvPr>
          <p:cNvSpPr/>
          <p:nvPr/>
        </p:nvSpPr>
        <p:spPr>
          <a:xfrm>
            <a:off x="10442607" y="2729727"/>
            <a:ext cx="1042692" cy="173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Nobody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AC0EB6-BDCE-1F4A-767A-61047CBAE5A3}"/>
              </a:ext>
            </a:extLst>
          </p:cNvPr>
          <p:cNvSpPr/>
          <p:nvPr/>
        </p:nvSpPr>
        <p:spPr>
          <a:xfrm>
            <a:off x="10321200" y="4270627"/>
            <a:ext cx="1183907" cy="173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Everything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11D05A-8D2B-A48F-4D1C-575BE90F061A}"/>
              </a:ext>
            </a:extLst>
          </p:cNvPr>
          <p:cNvSpPr/>
          <p:nvPr/>
        </p:nvSpPr>
        <p:spPr>
          <a:xfrm>
            <a:off x="9009006" y="4727159"/>
            <a:ext cx="1183907" cy="173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EveryBody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2A716C-F7C4-8481-D07A-ADD8F58B881E}"/>
              </a:ext>
            </a:extLst>
          </p:cNvPr>
          <p:cNvSpPr/>
          <p:nvPr/>
        </p:nvSpPr>
        <p:spPr>
          <a:xfrm>
            <a:off x="7823004" y="4468910"/>
            <a:ext cx="817051" cy="1732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Each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B1DD4C-A0AB-DEC2-9AA8-17F15A07F527}"/>
              </a:ext>
            </a:extLst>
          </p:cNvPr>
          <p:cNvSpPr/>
          <p:nvPr/>
        </p:nvSpPr>
        <p:spPr>
          <a:xfrm>
            <a:off x="7619809" y="3091094"/>
            <a:ext cx="974559" cy="3379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Neither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1000"/>
            <a:ext cx="72134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156" dirty="0">
                <a:solidFill>
                  <a:srgbClr val="FFD166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PHASE II · TITANIC LAW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677466"/>
            <a:ext cx="7010225" cy="759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59F3FF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THE HULK &amp; THANOS SECRET: MASSIVE SIZE, SINGULAR SUBJECT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675011"/>
            <a:ext cx="7010225" cy="4801989"/>
          </a:xfrm>
          <a:prstGeom prst="roundRect">
            <a:avLst>
              <a:gd name="adj" fmla="val 635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1829" y="2017018"/>
            <a:ext cx="380990" cy="381000"/>
          </a:xfrm>
          <a:prstGeom prst="ellipse">
            <a:avLst/>
          </a:prstGeom>
          <a:solidFill>
            <a:srgbClr val="9B5CFF"/>
          </a:solidFill>
          <a:ln w="12700">
            <a:solidFill>
              <a:srgbClr val="CC3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3729" y="2099568"/>
            <a:ext cx="6867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65216" y="2029718"/>
            <a:ext cx="582915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Rule: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Indefinite pronouns ending in -ONE, -BODY, or -THING are ALWAYS grammatically SINGULAR.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31829" y="2998788"/>
            <a:ext cx="380990" cy="381000"/>
          </a:xfrm>
          <a:prstGeom prst="ellipse">
            <a:avLst/>
          </a:prstGeom>
          <a:solidFill>
            <a:srgbClr val="9B5CFF"/>
          </a:solidFill>
          <a:ln w="12700">
            <a:solidFill>
              <a:srgbClr val="CC39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8748" y="3081338"/>
            <a:ext cx="716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65216" y="3011488"/>
            <a:ext cx="5829154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Analogy: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Think of a classroom full of many Hulks and Thanoses. There may be many of them, but when we talk about the class as one group, it is ONE subject: </a:t>
            </a: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class is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ready.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31829" y="4664273"/>
            <a:ext cx="380990" cy="381000"/>
          </a:xfrm>
          <a:prstGeom prst="ellipse">
            <a:avLst/>
          </a:prstGeom>
          <a:solidFill>
            <a:srgbClr val="9B5CFF"/>
          </a:solidFill>
          <a:ln w="12700">
            <a:solidFill>
              <a:srgbClr val="CC39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0335" y="4746823"/>
            <a:ext cx="7135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65216" y="4676973"/>
            <a:ext cx="582915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Memory Cue: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A crowded classroom still has ONE subject.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31829" y="5307806"/>
            <a:ext cx="6362541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3975001" y="5285482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31829" y="5537994"/>
            <a:ext cx="636254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kern="0" spc="228" dirty="0">
                <a:solidFill>
                  <a:srgbClr val="4633FF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REMEMBER: MANY IN THE ROOM = ONE SUBJECT = SINGULAR VERB</a:t>
            </a:r>
            <a:endParaRPr lang="en-US" sz="1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145B98B-D2BF-ACEB-EA1F-DEC8E31E9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112" y="579041"/>
            <a:ext cx="4216040" cy="25245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F93DD26-57C2-B569-D8D8-AC5251868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6718" y="3311545"/>
            <a:ext cx="4446806" cy="30942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206971"/>
            <a:ext cx="7964833" cy="1687909"/>
          </a:xfrm>
          <a:prstGeom prst="rect">
            <a:avLst/>
          </a:prstGeom>
          <a:solidFill>
            <a:srgbClr val="F4F8FF"/>
          </a:solidFill>
          <a:ln w="25399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7987" y="389235"/>
            <a:ext cx="7535178" cy="759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THE INFINITY STONES OF VERBS (MATCHING THE RULES)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988" y="1471272"/>
            <a:ext cx="8144763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Core Formula: Singular Subject = Singular Verb!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7987" y="2170509"/>
            <a:ext cx="2565336" cy="3696891"/>
          </a:xfrm>
          <a:prstGeom prst="roundRect">
            <a:avLst>
              <a:gd name="adj" fmla="val 1188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5631" y="2418159"/>
            <a:ext cx="749281" cy="7493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CC394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01" y="2611834"/>
            <a:ext cx="361941" cy="361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631" y="3307159"/>
            <a:ext cx="20700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kern="0" spc="11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07987" y="3799880"/>
            <a:ext cx="256533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Use "IS" (Not "Are")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3378115" y="2170509"/>
            <a:ext cx="2565336" cy="3696891"/>
          </a:xfrm>
          <a:prstGeom prst="roundRect">
            <a:avLst>
              <a:gd name="adj" fmla="val 1188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5759" y="2418159"/>
            <a:ext cx="749281" cy="7493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CC394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429" y="2611834"/>
            <a:ext cx="361941" cy="361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5759" y="3307159"/>
            <a:ext cx="20700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kern="0" spc="11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WAS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25759" y="3799880"/>
            <a:ext cx="2070048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Use "WAS" (Not "Were")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248244" y="2170509"/>
            <a:ext cx="2565336" cy="3696891"/>
          </a:xfrm>
          <a:prstGeom prst="roundRect">
            <a:avLst>
              <a:gd name="adj" fmla="val 1188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5887" y="2418159"/>
            <a:ext cx="749281" cy="7493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CC394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558" y="2611834"/>
            <a:ext cx="361941" cy="361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5887" y="3307159"/>
            <a:ext cx="20700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kern="0" spc="11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HAS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95887" y="3799880"/>
            <a:ext cx="2070048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Use "HAS" (Not "Have")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9118372" y="2170509"/>
            <a:ext cx="2565336" cy="3696891"/>
          </a:xfrm>
          <a:prstGeom prst="roundRect">
            <a:avLst>
              <a:gd name="adj" fmla="val 1188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66016" y="2418159"/>
            <a:ext cx="749281" cy="7493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CC394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686" y="2611834"/>
            <a:ext cx="361941" cy="3619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6016" y="3307159"/>
            <a:ext cx="207004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kern="0" spc="11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-S VERBS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366016" y="3799880"/>
            <a:ext cx="2070048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Use verbs ending in -S (knows, wants, smashes, saves)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507987" y="5994400"/>
            <a:ext cx="11175720" cy="533400"/>
          </a:xfrm>
          <a:prstGeom prst="roundRect">
            <a:avLst>
              <a:gd name="adj" fmla="val 5714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81030" y="6115050"/>
            <a:ext cx="1062963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000" kern="0" spc="240" dirty="0">
                <a:solidFill>
                  <a:srgbClr val="4633FF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IF THE VERB ENDS IN 'S', IT SNAPS BAD GRAMMAR OUT OF EXISTENCE!</a:t>
            </a:r>
            <a:endParaRPr lang="en-US" sz="2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4B30589-8331-CBB6-B7FD-AA9557300D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3225" y="87015"/>
            <a:ext cx="3446872" cy="1938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304800"/>
            <a:ext cx="118869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0" spc="156" dirty="0">
                <a:solidFill>
                  <a:srgbClr val="FFD166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COMBAT PROOF · REALITY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01266"/>
            <a:ext cx="1127731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59F3FF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BATTLE EXAMPLES (SOUNDS WRONG, BUT 100% RIGHT)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189" y="1225451"/>
            <a:ext cx="3555911" cy="5327749"/>
          </a:xfrm>
          <a:prstGeom prst="roundRect">
            <a:avLst>
              <a:gd name="adj" fmla="val 857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0232" y="2269133"/>
            <a:ext cx="3282868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28" dirty="0">
                <a:solidFill>
                  <a:srgbClr val="4633FF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BATTLE 01 · THE SNAP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0232" y="2818011"/>
            <a:ext cx="300982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0" spc="11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EXAMPLE 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0232" y="3369469"/>
            <a:ext cx="3009825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2197045" y="3347145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730232" y="3599656"/>
            <a:ext cx="3009825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"Everyone HAS survived the Snap."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0232" y="4510484"/>
            <a:ext cx="3009825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(Not 'have' — the entire surviving group acts as 1 unit!).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317892" y="1225451"/>
            <a:ext cx="3555911" cy="5327749"/>
          </a:xfrm>
          <a:prstGeom prst="roundRect">
            <a:avLst>
              <a:gd name="adj" fmla="val 857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935" y="2435622"/>
            <a:ext cx="3009825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28" dirty="0">
                <a:solidFill>
                  <a:srgbClr val="4633FF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BATTLE 02 · DOOM'S PLOT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90935" y="3317478"/>
            <a:ext cx="300982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0" spc="11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EXAMPLE 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90935" y="3868936"/>
            <a:ext cx="3009825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6057748" y="3846612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935" y="4099123"/>
            <a:ext cx="3009825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"Nobody KNOWS Doctor Doom's master plan."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90935" y="5009952"/>
            <a:ext cx="3282868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(Singular -S verb).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178595" y="1225451"/>
            <a:ext cx="3555911" cy="5327749"/>
          </a:xfrm>
          <a:prstGeom prst="roundRect">
            <a:avLst>
              <a:gd name="adj" fmla="val 857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1639" y="2269133"/>
            <a:ext cx="3009825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28" dirty="0">
                <a:solidFill>
                  <a:srgbClr val="4633FF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BATTLE 03 · STARK ARMORY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51639" y="3150989"/>
            <a:ext cx="300982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0" spc="11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EXAMPLE 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451639" y="3702447"/>
            <a:ext cx="3009825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9918452" y="3680123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8451639" y="3932634"/>
            <a:ext cx="3009825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"Each of the Iron Man suits IS fully loaded."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51639" y="4843463"/>
            <a:ext cx="3009825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(Don't let 'suits' trick you — 'Each' is the real subject!).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304800"/>
            <a:ext cx="118869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0" spc="156" dirty="0">
                <a:solidFill>
                  <a:srgbClr val="FFD166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TACTICAL WARNING · DEFENSE PROTOCOL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01266"/>
            <a:ext cx="1127731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59F3FF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THE "PREPOSITIONAL PHRASE" TRAP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🪤</a:t>
            </a:r>
            <a:r>
              <a:rPr lang="en-US" sz="2800" kern="0" spc="98" dirty="0">
                <a:solidFill>
                  <a:srgbClr val="59F3FF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 (DOCTOR DOOM'S TRAP)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189" y="1225451"/>
            <a:ext cx="11277318" cy="5327749"/>
          </a:xfrm>
          <a:prstGeom prst="roundRect">
            <a:avLst>
              <a:gd name="adj" fmla="val 572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037" y="1498501"/>
            <a:ext cx="11137621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Trap:</a:t>
            </a:r>
            <a:r>
              <a:rPr lang="en-US" sz="22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Prepositional phrases stuffed between the subject and verb to confuse your brain.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1829" y="2011065"/>
            <a:ext cx="5088505" cy="632420"/>
          </a:xfrm>
          <a:prstGeom prst="rect">
            <a:avLst/>
          </a:prstGeom>
          <a:solidFill>
            <a:srgbClr val="FF4D8D"/>
          </a:solidFill>
          <a:ln/>
          <a:effectLst>
            <a:outerShdw blurRad="127" dist="24130" dir="5400000" algn="bl" rotWithShape="0">
              <a:srgbClr val="FFFFF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1829" y="2637135"/>
            <a:ext cx="5088505" cy="6350"/>
          </a:xfrm>
          <a:prstGeom prst="rect">
            <a:avLst/>
          </a:prstGeom>
          <a:solidFill>
            <a:srgbClr val="6B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85823" y="2163465"/>
            <a:ext cx="458051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0" spc="264" dirty="0">
                <a:solidFill>
                  <a:srgbClr val="FFFFFF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DOCTOR DOOM'S ILLUSION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71262" y="2011065"/>
            <a:ext cx="5088505" cy="632420"/>
          </a:xfrm>
          <a:prstGeom prst="rect">
            <a:avLst/>
          </a:prstGeom>
          <a:solidFill>
            <a:srgbClr val="59F3FF"/>
          </a:solidFill>
          <a:ln/>
          <a:effectLst>
            <a:outerShdw blurRad="127" dist="24130" dir="5400000" algn="bl" rotWithShape="0">
              <a:srgbClr val="FFFFF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1262" y="2637135"/>
            <a:ext cx="5088505" cy="6350"/>
          </a:xfrm>
          <a:prstGeom prst="rect">
            <a:avLst/>
          </a:prstGeom>
          <a:solidFill>
            <a:srgbClr val="6B5CFF"/>
          </a:solidFill>
          <a:ln/>
        </p:spPr>
      </p:sp>
      <p:sp>
        <p:nvSpPr>
          <p:cNvPr id="11" name="Text 9"/>
          <p:cNvSpPr/>
          <p:nvPr/>
        </p:nvSpPr>
        <p:spPr>
          <a:xfrm>
            <a:off x="6525256" y="2163465"/>
            <a:ext cx="458051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0" spc="264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AVENGERS CORRECT SHIELD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1829" y="2643485"/>
            <a:ext cx="5088505" cy="2432844"/>
          </a:xfrm>
          <a:prstGeom prst="roundRect">
            <a:avLst>
              <a:gd name="adj" fmla="val 1253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04872" y="2916535"/>
            <a:ext cx="45424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38" dirty="0">
                <a:solidFill>
                  <a:srgbClr val="8233FF"/>
                </a:solidFill>
                <a:latin typeface="Holtwood One SC" pitchFamily="34" charset="0"/>
                <a:ea typeface="Holtwood One SC" pitchFamily="34" charset="-122"/>
                <a:cs typeface="Holtwood One SC" pitchFamily="34" charset="-120"/>
              </a:rPr>
              <a:t>INCORRECT: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104872" y="3661370"/>
            <a:ext cx="4542418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"Everyone in the Avengers ARE fighting..." </a:t>
            </a:r>
            <a:r>
              <a:rPr lang="en-US" sz="2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872" y="4572198"/>
            <a:ext cx="481546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Doom wants you to match with 'Avengers'!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1262" y="2643485"/>
            <a:ext cx="5088505" cy="2432844"/>
          </a:xfrm>
          <a:prstGeom prst="roundRect">
            <a:avLst>
              <a:gd name="adj" fmla="val 1253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4305" y="2916535"/>
            <a:ext cx="45424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38" dirty="0">
                <a:solidFill>
                  <a:srgbClr val="4633FF"/>
                </a:solidFill>
                <a:latin typeface="Holtwood One SC" pitchFamily="34" charset="0"/>
                <a:ea typeface="Holtwood One SC" pitchFamily="34" charset="-122"/>
                <a:cs typeface="Holtwood One SC" pitchFamily="34" charset="-120"/>
              </a:rPr>
              <a:t>CORRECT: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544305" y="3661370"/>
            <a:ext cx="4542418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"Everyone (in the Avengers) IS fighting..." </a:t>
            </a:r>
            <a:r>
              <a:rPr lang="en-US" sz="2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4305" y="4572198"/>
            <a:ext cx="481546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The true subject 'Everyone' requires 'IS'.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1829" y="5287466"/>
            <a:ext cx="10527937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057748" y="5265142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527037" y="5517654"/>
            <a:ext cx="11137621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 Tip:</a:t>
            </a: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 Block out the middle team name with Captain America's shield and look only at the main subject!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304800"/>
            <a:ext cx="118869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0" spc="156" dirty="0">
                <a:solidFill>
                  <a:srgbClr val="FFD166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LIVE ENGAGEMENT · ARENA COMBAT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189" y="718741"/>
            <a:ext cx="11277318" cy="5834459"/>
          </a:xfrm>
          <a:prstGeom prst="roundRect">
            <a:avLst>
              <a:gd name="adj" fmla="val 522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31829" y="966391"/>
            <a:ext cx="10528037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MULTIVERSE POP QUIZ (BATTLE MODE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⚔️</a:t>
            </a: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1829" y="1590576"/>
          <a:ext cx="10528037" cy="1760693"/>
        </p:xfrm>
        <a:graphic>
          <a:graphicData uri="http://schemas.openxmlformats.org/drawingml/2006/table">
            <a:tbl>
              <a:tblPr/>
              <a:tblGrid>
                <a:gridCol w="842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1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kern="0" spc="228" dirty="0">
                          <a:solidFill>
                            <a:srgbClr val="4633FF"/>
                          </a:solidFill>
                          <a:latin typeface="Crimson Pro" pitchFamily="34" charset="0"/>
                          <a:ea typeface="Crimson Pro" pitchFamily="34" charset="-122"/>
                          <a:cs typeface="Crimson Pro" pitchFamily="34" charset="-120"/>
                        </a:rPr>
                        <a:t>Q1</a:t>
                      </a:r>
                      <a:endParaRPr lang="en-US" sz="1900" dirty="0">
                        <a:latin typeface="Crimson Pro" charset="0"/>
                        <a:ea typeface="Crimson Pro" charset="0"/>
                        <a:cs typeface="Crimson Pro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rimson Pro" pitchFamily="34" charset="0"/>
                          <a:ea typeface="Crimson Pro" pitchFamily="34" charset="-122"/>
                          <a:cs typeface="Crimson Pro" pitchFamily="34" charset="-120"/>
                        </a:rPr>
                        <a:t>"Neither of the multiverses (is / are) safe from Doom."</a:t>
                      </a:r>
                      <a:endParaRPr lang="en-US" sz="2200" dirty="0">
                        <a:latin typeface="Crimson Pro" charset="0"/>
                        <a:ea typeface="Crimson Pro" charset="0"/>
                        <a:cs typeface="Crimson Pro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1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kern="0" spc="228" dirty="0">
                          <a:solidFill>
                            <a:srgbClr val="4633FF"/>
                          </a:solidFill>
                          <a:latin typeface="Crimson Pro" pitchFamily="34" charset="0"/>
                          <a:ea typeface="Crimson Pro" pitchFamily="34" charset="-122"/>
                          <a:cs typeface="Crimson Pro" pitchFamily="34" charset="-120"/>
                        </a:rPr>
                        <a:t>Q2</a:t>
                      </a:r>
                      <a:endParaRPr lang="en-US" sz="1900" dirty="0">
                        <a:latin typeface="Crimson Pro" charset="0"/>
                        <a:ea typeface="Crimson Pro" charset="0"/>
                        <a:cs typeface="Crimson Pro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rimson Pro" pitchFamily="34" charset="0"/>
                          <a:ea typeface="Crimson Pro" pitchFamily="34" charset="-122"/>
                          <a:cs typeface="Crimson Pro" pitchFamily="34" charset="-120"/>
                        </a:rPr>
                        <a:t>"Everybody in Wakanda (fight / fights) till the end."</a:t>
                      </a:r>
                      <a:endParaRPr lang="en-US" sz="2200" dirty="0">
                        <a:latin typeface="Crimson Pro" charset="0"/>
                        <a:ea typeface="Crimson Pro" charset="0"/>
                        <a:cs typeface="Crimson Pro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kern="0" spc="228" dirty="0">
                          <a:solidFill>
                            <a:srgbClr val="4633FF"/>
                          </a:solidFill>
                          <a:latin typeface="Crimson Pro" pitchFamily="34" charset="0"/>
                          <a:ea typeface="Crimson Pro" pitchFamily="34" charset="-122"/>
                          <a:cs typeface="Crimson Pro" pitchFamily="34" charset="-120"/>
                        </a:rPr>
                        <a:t>Q3</a:t>
                      </a:r>
                      <a:endParaRPr lang="en-US" sz="1900" dirty="0">
                        <a:latin typeface="Crimson Pro" charset="0"/>
                        <a:ea typeface="Crimson Pro" charset="0"/>
                        <a:cs typeface="Crimson Pro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rimson Pro" pitchFamily="34" charset="0"/>
                          <a:ea typeface="Crimson Pro" pitchFamily="34" charset="-122"/>
                          <a:cs typeface="Crimson Pro" pitchFamily="34" charset="-120"/>
                        </a:rPr>
                        <a:t>"Something (seem / seems) broken in the timeline."</a:t>
                      </a:r>
                      <a:endParaRPr lang="en-US" sz="2200" dirty="0">
                        <a:latin typeface="Crimson Pro" charset="0"/>
                        <a:ea typeface="Crimson Pro" charset="0"/>
                        <a:cs typeface="Crimson Pro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5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1829" y="3562449"/>
            <a:ext cx="10527937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7" name="Shape 4"/>
          <p:cNvSpPr/>
          <p:nvPr/>
        </p:nvSpPr>
        <p:spPr>
          <a:xfrm rot="2700000">
            <a:off x="6057748" y="3540125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" name="Text 5"/>
          <p:cNvSpPr/>
          <p:nvPr/>
        </p:nvSpPr>
        <p:spPr>
          <a:xfrm>
            <a:off x="527037" y="3792637"/>
            <a:ext cx="11137621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kern="0" spc="228" dirty="0">
                <a:solidFill>
                  <a:srgbClr val="4633FF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3/3 HITS TO REPEL DOOM'S ASSAULT</a:t>
            </a:r>
            <a:endParaRPr lang="en-US" sz="1900" dirty="0"/>
          </a:p>
        </p:txBody>
      </p:sp>
      <p:sp>
        <p:nvSpPr>
          <p:cNvPr id="5" name="Shape 6"/>
          <p:cNvSpPr/>
          <p:nvPr/>
        </p:nvSpPr>
        <p:spPr>
          <a:xfrm>
            <a:off x="831829" y="4265315"/>
            <a:ext cx="10528037" cy="936228"/>
          </a:xfrm>
          <a:prstGeom prst="roundRect">
            <a:avLst>
              <a:gd name="adj" fmla="val 1221"/>
            </a:avLst>
          </a:prstGeom>
          <a:solidFill>
            <a:srgbClr val="B3202E"/>
          </a:solidFill>
          <a:ln/>
        </p:spPr>
      </p:sp>
      <p:sp>
        <p:nvSpPr>
          <p:cNvPr id="10" name="Text 7"/>
          <p:cNvSpPr/>
          <p:nvPr/>
        </p:nvSpPr>
        <p:spPr>
          <a:xfrm>
            <a:off x="768331" y="4566940"/>
            <a:ext cx="10655033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Answers: 1. IS  2. FIGHTS  3. SEEMS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030" y="2151063"/>
            <a:ext cx="10629634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INTERACTIVE CLASS TEST (GAMING / MCU EDITION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🎮</a:t>
            </a: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1030" y="2775248"/>
            <a:ext cx="10629634" cy="111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Question 1: "Everyone on the Discord server (is / are) waiting for the new Marvel movie."</a:t>
            </a:r>
            <a:endParaRPr lang="en-US" sz="1900" dirty="0"/>
          </a:p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Question 2: "Each of the Infinity Stones (has / have) a unique power."</a:t>
            </a:r>
            <a:endParaRPr lang="en-US" sz="1900" dirty="0"/>
          </a:p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Question 3: "Nobody in the lobby (know / knows) how to beat the final boss."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030" y="4169470"/>
            <a:ext cx="10629634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6057748" y="4147145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Text 4"/>
          <p:cNvSpPr/>
          <p:nvPr/>
        </p:nvSpPr>
        <p:spPr>
          <a:xfrm>
            <a:off x="781030" y="4475857"/>
            <a:ext cx="1095347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Answer reveal badge with celebratory victory graphics!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7D4CD5-D610-8DDF-7A13-E64983FCD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527" y="3968383"/>
            <a:ext cx="4563979" cy="2654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199852"/>
            <a:ext cx="1645799" cy="4458395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5" y="1199852"/>
            <a:ext cx="25399" cy="4458395"/>
          </a:xfrm>
          <a:prstGeom prst="rect">
            <a:avLst/>
          </a:prstGeom>
          <a:solidFill>
            <a:srgbClr val="1C2233"/>
          </a:solidFill>
          <a:ln/>
        </p:spPr>
      </p:sp>
      <p:sp>
        <p:nvSpPr>
          <p:cNvPr id="4" name="Text 2"/>
          <p:cNvSpPr/>
          <p:nvPr/>
        </p:nvSpPr>
        <p:spPr>
          <a:xfrm>
            <a:off x="1071337" y="2817515"/>
            <a:ext cx="74759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000" kern="0" spc="24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ADMIT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12919" y="3249315"/>
            <a:ext cx="464431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000" kern="0" spc="24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6236" y="3719215"/>
            <a:ext cx="79779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200" kern="0" spc="264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RULES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09265" y="1199802"/>
            <a:ext cx="9326726" cy="4458395"/>
          </a:xfrm>
          <a:prstGeom prst="roundRect">
            <a:avLst>
              <a:gd name="adj" fmla="val 684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  <a:effectLst>
            <a:outerShdw blurRad="24130" dist="1778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30025" y="1498302"/>
            <a:ext cx="8577445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0" spc="98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SUMMARY &amp; VICTORY CHEAT SHEET </a:t>
            </a:r>
            <a:r>
              <a:rPr lang="en-US" sz="2800" kern="0" spc="98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📌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630025" y="2181225"/>
            <a:ext cx="8577445" cy="31651"/>
          </a:xfrm>
          <a:prstGeom prst="roundRect">
            <a:avLst>
              <a:gd name="adj" fmla="val 49998"/>
            </a:avLst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6880648" y="2158901"/>
            <a:ext cx="76198" cy="76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Shape 9"/>
          <p:cNvSpPr/>
          <p:nvPr/>
        </p:nvSpPr>
        <p:spPr>
          <a:xfrm>
            <a:off x="2630025" y="2411413"/>
            <a:ext cx="355591" cy="355600"/>
          </a:xfrm>
          <a:prstGeom prst="ellipse">
            <a:avLst/>
          </a:prstGeom>
          <a:solidFill>
            <a:srgbClr val="9B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69225" y="2481263"/>
            <a:ext cx="6867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30025" y="2894013"/>
            <a:ext cx="265592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0" spc="10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RULE 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30025" y="3357563"/>
            <a:ext cx="2655920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Rule 1: -one, -body, -thing = SINGULAR SUBJECT.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590737" y="2411413"/>
            <a:ext cx="355591" cy="355600"/>
          </a:xfrm>
          <a:prstGeom prst="ellipse">
            <a:avLst/>
          </a:prstGeom>
          <a:solidFill>
            <a:srgbClr val="9B5C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14956" y="2481263"/>
            <a:ext cx="716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90737" y="2894013"/>
            <a:ext cx="265592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0" spc="10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RULE 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4485" y="3374529"/>
            <a:ext cx="2655920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Rule 2: Pair with IS, WAS, HAS, or verbs ending in -S.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453050" y="2394531"/>
            <a:ext cx="355591" cy="355600"/>
          </a:xfrm>
          <a:prstGeom prst="ellipse">
            <a:avLst/>
          </a:prstGeom>
          <a:solidFill>
            <a:srgbClr val="9B5CFF"/>
          </a:solidFill>
          <a:ln/>
        </p:spPr>
      </p:sp>
      <p:sp>
        <p:nvSpPr>
          <p:cNvPr id="20" name="Text 18"/>
          <p:cNvSpPr/>
          <p:nvPr/>
        </p:nvSpPr>
        <p:spPr>
          <a:xfrm>
            <a:off x="8586934" y="2471696"/>
            <a:ext cx="158795" cy="19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B102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27398" y="2957215"/>
            <a:ext cx="2656019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0" spc="10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RULE 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51451" y="3365530"/>
            <a:ext cx="2656019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Crimson Pro" pitchFamily="34" charset="0"/>
                <a:ea typeface="Crimson Pro" pitchFamily="34" charset="-122"/>
                <a:cs typeface="Crimson Pro" pitchFamily="34" charset="-120"/>
              </a:rPr>
              <a:t>Rule 3: Shield yourself from middle descriptive phrases!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2728216" y="4533830"/>
            <a:ext cx="8577445" cy="876300"/>
          </a:xfrm>
          <a:prstGeom prst="roundRect">
            <a:avLst>
              <a:gd name="adj" fmla="val 3478"/>
            </a:avLst>
          </a:prstGeom>
          <a:solidFill>
            <a:srgbClr val="F4F8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0461" y="4755142"/>
            <a:ext cx="81329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000" kern="0" spc="100" dirty="0">
                <a:solidFill>
                  <a:srgbClr val="000000"/>
                </a:solidFill>
                <a:latin typeface="Fjalla One" pitchFamily="34" charset="0"/>
                <a:ea typeface="Fjalla One" pitchFamily="34" charset="-122"/>
                <a:cs typeface="Fjalla One" pitchFamily="34" charset="-120"/>
              </a:rPr>
              <a:t>CLOSING: "THANK YOU! ANY QUESTIONS BEFORE DOCTOR DOOM INVADES OUR NEXT LECTURE?"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DA1BD2-725E-3F12-717F-D3D9EFFD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3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1140</Words>
  <Application>Microsoft Office PowerPoint</Application>
  <PresentationFormat>Widescreen</PresentationFormat>
  <Paragraphs>124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Holtwood One SC</vt:lpstr>
      <vt:lpstr>Fjalla One</vt:lpstr>
      <vt:lpstr>Noto Color Emoji</vt:lpstr>
      <vt:lpstr>Arial</vt:lpstr>
      <vt:lpstr>Crimson Pro Bold</vt:lpstr>
      <vt:lpstr>Crimson Pro</vt:lpstr>
      <vt:lpstr>Crimson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AHSAN TANVEER</dc:creator>
  <cp:lastModifiedBy>AHSAN TANVEER</cp:lastModifiedBy>
  <cp:revision>2</cp:revision>
  <dcterms:created xsi:type="dcterms:W3CDTF">2026-09-28T16:30:06Z</dcterms:created>
  <dcterms:modified xsi:type="dcterms:W3CDTF">2026-09-28T17:31:29Z</dcterms:modified>
</cp:coreProperties>
</file>